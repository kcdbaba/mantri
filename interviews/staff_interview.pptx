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amp; Background 3 min" id="{EAE3E8D2-065D-2947-9D2B-80A99AF6738B}">
          <p14:sldIdLst>
            <p14:sldId id="256"/>
            <p14:sldId id="257"/>
          </p14:sldIdLst>
        </p14:section>
        <p14:section name="Purpose &amp; Values 3 min" id="{96782366-3F48-2647-A0E3-2DE4F54C8AEC}">
          <p14:sldIdLst>
            <p14:sldId id="258"/>
            <p14:sldId id="259"/>
          </p14:sldIdLst>
        </p14:section>
        <p14:section name="UX Walkthrough 8 min" id="{4A32A60E-5262-4C41-BD2B-5BAC2365B0E9}">
          <p14:sldIdLst>
            <p14:sldId id="260"/>
            <p14:sldId id="261"/>
            <p14:sldId id="262"/>
            <p14:sldId id="263"/>
          </p14:sldIdLst>
        </p14:section>
        <p14:section name="SATA Output Walkthrough 7 min" id="{D5117117-8AC5-4A44-B60E-D845DBECDD35}">
          <p14:sldIdLst>
            <p14:sldId id="264"/>
            <p14:sldId id="265"/>
            <p14:sldId id="266"/>
          </p14:sldIdLst>
        </p14:section>
        <p14:section name="Intermediate Q&amp;A 5 min" id="{BF477F90-4B26-3448-A64B-D9E4E85B8FB7}">
          <p14:sldIdLst>
            <p14:sldId id="267"/>
          </p14:sldIdLst>
        </p14:section>
        <p14:section name="Trust Building 4 min" id="{C970E088-4AB2-CC49-A7D8-B8F9ECAB016D}">
          <p14:sldIdLst>
            <p14:sldId id="269"/>
            <p14:sldId id="268"/>
          </p14:sldIdLst>
        </p14:section>
        <p14:section name="Interview Questions 10 min" id="{C907A2FC-0C95-2F4F-AD76-1F05BF16D9E7}">
          <p14:sldIdLst>
            <p14:sldId id="270"/>
            <p14:sldId id="271"/>
            <p14:sldId id="272"/>
            <p14:sldId id="273"/>
            <p14:sldId id="274"/>
            <p14:sldId id="275"/>
          </p14:sldIdLst>
        </p14:section>
        <p14:section name="Final Q&amp;A + Conclusion 5 min" id="{232F9E82-4020-394F-AF45-9D4D383E1237}">
          <p14:sldIdLst>
            <p14:sldId id="276"/>
            <p14:sldId id="27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07" d="100"/>
          <a:sy n="107" d="100"/>
        </p:scale>
        <p:origin x="1280" y="4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46BA3E-771D-F84A-924D-2F31FCD247DA}" type="datetimeFigureOut">
              <a:rPr lang="en-US" smtClean="0"/>
              <a:t>3/27/26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01B3FF-ABC9-8E4C-A8A7-18496BDEF743}" type="slidenum">
              <a:rPr lang="en-US" smtClean="0"/>
              <a:t>‹#›</a:t>
            </a:fld>
            <a:endParaRPr lang="en-US"/>
          </a:p>
        </p:txBody>
      </p:sp>
    </p:spTree>
    <p:extLst>
      <p:ext uri="{BB962C8B-B14F-4D97-AF65-F5344CB8AC3E}">
        <p14:creationId xmlns:p14="http://schemas.microsoft.com/office/powerpoint/2010/main" val="33638070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"Namaste everyone. My name is Kunal. I'm working with Ashish on a software project called Mantri — which means assistant or advisor. I'm joining you remotely from [city] today.</a:t>
            </a:r>
          </a:p>
          <a:p>
            <a:r>
              <a:rPr lang="en-IN" sz="1200" b="0" i="0" kern="1200" dirty="0">
                <a:solidFill>
                  <a:schemeClr val="tx1"/>
                </a:solidFill>
                <a:effectLst/>
                <a:latin typeface="+mn-lt"/>
                <a:ea typeface="+mn-ea"/>
                <a:cs typeface="+mn-cs"/>
              </a:rPr>
              <a:t>Thank you for making the time. This session is about 45 minutes. We're going to show you what we've been building, walk through a real example, and then we really want to hear from you — your thoughts, your concerns, and your ideas.</a:t>
            </a:r>
          </a:p>
          <a:p>
            <a:r>
              <a:rPr lang="en-IN" sz="1200" b="0" i="0" kern="1200" dirty="0">
                <a:solidFill>
                  <a:schemeClr val="tx1"/>
                </a:solidFill>
                <a:effectLst/>
                <a:latin typeface="+mn-lt"/>
                <a:ea typeface="+mn-ea"/>
                <a:cs typeface="+mn-cs"/>
              </a:rPr>
              <a:t>Nothing here is fixed yet. Your feedback today will directly shape what gets built."</a:t>
            </a:r>
            <a:endParaRPr lang="en-US" dirty="0"/>
          </a:p>
        </p:txBody>
      </p:sp>
      <p:sp>
        <p:nvSpPr>
          <p:cNvPr id="4" name="Slide Number Placeholder 3"/>
          <p:cNvSpPr>
            <a:spLocks noGrp="1"/>
          </p:cNvSpPr>
          <p:nvPr>
            <p:ph type="sldNum" sz="quarter" idx="5"/>
          </p:nvPr>
        </p:nvSpPr>
        <p:spPr/>
        <p:txBody>
          <a:bodyPr/>
          <a:lstStyle/>
          <a:p>
            <a:fld id="{FD01B3FF-ABC9-8E4C-A8A7-18496BDEF743}" type="slidenum">
              <a:rPr lang="en-US" smtClean="0"/>
              <a:t>1</a:t>
            </a:fld>
            <a:endParaRPr lang="en-US"/>
          </a:p>
        </p:txBody>
      </p:sp>
    </p:spTree>
    <p:extLst>
      <p:ext uri="{BB962C8B-B14F-4D97-AF65-F5344CB8AC3E}">
        <p14:creationId xmlns:p14="http://schemas.microsoft.com/office/powerpoint/2010/main" val="1248213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"You all know how this business works. There are orders coming in from multiple Army clients. Suppliers to follow up with. Deliveries to coordinate. Payments to track.</a:t>
            </a:r>
          </a:p>
          <a:p>
            <a:endParaRPr dirty="0"/>
          </a:p>
          <a:p>
            <a:r>
              <a:rPr dirty="0"/>
              <a:t>All of this happens across many WhatsApp groups simultaneously — and Ashish is watching all of it from another city.</a:t>
            </a:r>
          </a:p>
          <a:p>
            <a:endParaRPr dirty="0"/>
          </a:p>
          <a:p>
            <a:r>
              <a:rPr dirty="0"/>
              <a:t>The honest truth is: when there are hundreds of messages a day across ten groups, things slip. Not because anyone isn't doing their job. But because no single person — not Ashish, not any of you — can hold all of it in their head at once.</a:t>
            </a:r>
          </a:p>
          <a:p>
            <a:endParaRPr dirty="0"/>
          </a:p>
          <a:p>
            <a:r>
              <a:rPr dirty="0"/>
              <a:t>That's what we're trying to solve."</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"Mantri reads the WhatsApp groups it's given permission to read. That's all it does — it reads.</a:t>
            </a:r>
          </a:p>
          <a:p>
            <a:endParaRPr/>
          </a:p>
          <a:p>
            <a:r>
              <a:t>From those messages, it builds a task list: what orders are active, what's pending, what's at risk of being missed, and what the logical next step is for each task.</a:t>
            </a:r>
          </a:p>
          <a:p>
            <a:endParaRPr/>
          </a:p>
          <a:p>
            <a:r>
              <a:t>It does not send messages on your behalf. It does not make any decisions. It cannot write anything to WhatsApp. It only reads and summarises.</a:t>
            </a:r>
          </a:p>
          <a:p>
            <a:endParaRPr/>
          </a:p>
          <a:p>
            <a:r>
              <a:t>Think of it as a very attentive assistant sitting in the background — one that never gets tired, never loses track, and always has the full picture."</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we show you what it does, we want to be clear about what we stand for.</a:t>
            </a:r>
          </a:p>
          <a:p>
            <a:endParaRPr dirty="0"/>
          </a:p>
          <a:p>
            <a:r>
              <a:rPr dirty="0"/>
              <a:t>First — privacy. Mantri only reads the groups that Ashish explicitly gives it permission to read. Your personal chats, your 1:1 conversations — none of that. A specific whitelist of groups, nothing else, ever.</a:t>
            </a:r>
          </a:p>
          <a:p>
            <a:endParaRPr dirty="0"/>
          </a:p>
          <a:p>
            <a:r>
              <a:rPr dirty="0"/>
              <a:t>Second — minimal noise. We are not building something that sends you 50 alerts a day. The goal is a small number of genuinely useful reminders — the kind that save you from a problem, not the kind that distract you from your work.</a:t>
            </a:r>
          </a:p>
          <a:p>
            <a:endParaRPr dirty="0"/>
          </a:p>
          <a:p>
            <a:r>
              <a:rPr dirty="0"/>
              <a:t>Third — you are always in control. If Mantri flags a task incorrectly, you can correct it. If it marks something as pending that you've already handled, you can update it. Nothing it says is final.</a:t>
            </a:r>
          </a:p>
          <a:p>
            <a:endParaRPr dirty="0"/>
          </a:p>
          <a:p>
            <a:r>
              <a:rPr dirty="0"/>
              <a:t>And fourth — this is built with you. What you tell us today will change what we build. We're not here to tell you how to work. We're here to build something that fits how you actually work."</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it works step by step. Mantri reads the permitted WhatsApp groups — the actual messages, in Hinglish, just as you write them. It understands the context — who is talking to whom, what order is being discussed, what has been promised and by when."</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those messages, it builds a task card. You can see the supplier, the item, the status, the deadline, and the priority. And underneath — the specific actions that still need to happen, with a suggested next step for each one.</a:t>
            </a:r>
          </a:p>
          <a:p>
            <a:endParaRPr/>
          </a:p>
          <a:p>
            <a:r>
              <a:t>Notice that 'arrange receiving staff' — that was never explicitly discussed in any message. Mantri inferred it from the context. Someone needs to be at the delivery location. That's an implicit task it surfaces automatically."</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"And finally, it flags things that need attention — information that's missing, commitments that are vague, or things it's uncertain about.</a:t>
            </a:r>
          </a:p>
          <a:p>
            <a:endParaRPr dirty="0"/>
          </a:p>
          <a:p>
            <a:r>
              <a:rPr dirty="0"/>
              <a:t>Notice the last one: 'Sharma ji and Sharma bhai — assumed same person, please confirm.' Mantri doesn't guess silently. When it's not sure, it tells you and asks for human confirmation. This is important — it's honest about what it doesn't know."</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"At any point, you can update a task. Mark it done. Change the status. Correct something Mantri got wrong. It's not smarter than you — it has less context than you do. It can be wrong, and you will always be able to fix it.</a:t>
            </a:r>
          </a:p>
          <a:p>
            <a:endParaRPr dirty="0"/>
          </a:p>
          <a:p>
            <a:r>
              <a:rPr dirty="0"/>
              <a:t>Think of it like a shared whiteboard that Mantri writes on automatically. You can always erase and rewrite."</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"Let's look at a real example. We ran Mantri on a real set of WhatsApp chats from the SATA Artillery </a:t>
            </a:r>
            <a:r>
              <a:rPr lang="en-US" dirty="0"/>
              <a:t>Battery</a:t>
            </a:r>
            <a:r>
              <a:rPr dirty="0"/>
              <a:t> order — 4 groups, 904 messages over 24 days. We also gave it the images that were shared — invoices, payment screenshots, supplier proformas.</a:t>
            </a:r>
          </a:p>
          <a:p>
            <a:endParaRPr dirty="0"/>
          </a:p>
          <a:p>
            <a:r>
              <a:rPr dirty="0"/>
              <a:t>It identified 12 separate tasks, correctly linked messages across different groups to the same orders, flagged payments that had no matching GST bill, and surfaced items that were at risk of being missed.</a:t>
            </a:r>
          </a:p>
          <a:p>
            <a:endParaRPr dirty="0"/>
          </a:p>
          <a:p>
            <a:r>
              <a:rPr dirty="0"/>
              <a:t>We evaluated its output and it scored 91 out of 100. We'll walk through a few highlights now."</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a real task from the SATA case. The AC order for the regiment. Mantri correctly identified that the last update from the supplier was 9 days ago, that the unit is about to relocate, and that this is a high-risk situation.</a:t>
            </a:r>
          </a:p>
          <a:p>
            <a:endParaRPr/>
          </a:p>
          <a:p>
            <a:r>
              <a:t>The suggested next step: call Punit directly. Not a WhatsApp message — a phone call, because the message trail has gone quiet.</a:t>
            </a:r>
          </a:p>
          <a:p>
            <a:endParaRPr/>
          </a:p>
          <a:p>
            <a:r>
              <a:t>It also flagged that the delivery vehicle should not be booked until dispatch is confirmed — the sequencing is correct."</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five things Mantri caught from the SATA case that had not been explicitly flagged by anyone in any group.</a:t>
            </a:r>
          </a:p>
          <a:p>
            <a:endParaRPr/>
          </a:p>
          <a:p>
            <a:r>
              <a:t>The Amazon orders had been silent for 21 days — no one had noticed. The mini fridge size mismatch — the client asked for 75-100 litres, the supplier was delivering 45 litres. If that had reached the client unnoticed, it would have been a serious problem.</a:t>
            </a:r>
          </a:p>
          <a:p>
            <a:endParaRPr/>
          </a:p>
          <a:p>
            <a:r>
              <a:t>These are the kinds of gaps that fall through in a busy operation. Mantri's job is to surface them before they become crises."</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pause here for questions before we go further. We've shown you what Mantri does — I'd love your first reactions.</a:t>
            </a:r>
          </a:p>
          <a:p>
            <a:endParaRPr/>
          </a:p>
          <a:p>
            <a:r>
              <a:t>[Pause. Let responses come. Don't rush.]</a:t>
            </a:r>
          </a:p>
          <a:p>
            <a:endParaRPr/>
          </a:p>
          <a:p>
            <a:r>
              <a:t>A few things worth thinking about as you respond: Does this match how orders actually flow in your work? Is there something important that happens off WhatsApp that Mantri would never see? And is there anything about this that concerns you?</a:t>
            </a:r>
          </a:p>
          <a:p>
            <a:endParaRPr/>
          </a:p>
          <a:p>
            <a:r>
              <a:t>[Take notes on responses. Acknowledge each one. If something is a valid concern, say so honestly — don't dismiss it.]"</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will always know more than Mantri does. You were in the room. You made the phone call. You know the client's situation.</a:t>
            </a:r>
          </a:p>
          <a:p>
            <a:endParaRPr/>
          </a:p>
          <a:p>
            <a:r>
              <a:t>Whenever Mantri gets something wrong — and it will sometimes get things wrong — you correct it. Mark it done. Update the status. Tell it the task is not urgent. Your knowledge overrides Mantri, always.</a:t>
            </a:r>
          </a:p>
          <a:p>
            <a:endParaRPr/>
          </a:p>
          <a:p>
            <a:r>
              <a:t>The system is designed to learn from your corrections over time. Every time you update a task, Mantri gets a little more accurate about how your business actually works."</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direct about something important. There are things Mantri will never do — and I want you to hear this clearly.</a:t>
            </a:r>
          </a:p>
          <a:p>
            <a:endParaRPr/>
          </a:p>
          <a:p>
            <a:r>
              <a:t>It will never send a message on your behalf. It will never read personal chats or any group it hasn't been explicitly given permission to access. It will never share your conversations with anyone.</a:t>
            </a:r>
          </a:p>
          <a:p>
            <a:endParaRPr/>
          </a:p>
          <a:p>
            <a:r>
              <a:t>And specifically — it will not be used to evaluate staff, score performance, or report back to Ashish about who made a mistake. That is not what this is for. This is an operations tool, not a monitoring tool.</a:t>
            </a:r>
          </a:p>
          <a:p>
            <a:endParaRPr/>
          </a:p>
          <a:p>
            <a:r>
              <a:t>Your WhatsApp is your workspace. Mantri is a guest in that workspace. It reads what it's invited to, does its job quietly, and stays out of everything else."</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the most important part of today. We want to hear from you directly.</a:t>
            </a:r>
          </a:p>
          <a:p>
            <a:endParaRPr dirty="0"/>
          </a:p>
          <a:p>
            <a:r>
              <a:rPr dirty="0"/>
              <a:t>I'm going to ask a few questions. There are no right answers. If something doesn't work for you, tell me. If you think this would create more work, not less — tell me. The only way we build something useful is if you tell us the truth.</a:t>
            </a:r>
          </a:p>
          <a:p>
            <a:endParaRPr dirty="0"/>
          </a:p>
          <a:p>
            <a:r>
              <a:rPr dirty="0"/>
              <a:t>Ashish, I'd ask you to let the team answer first for each question before you add your view — sometimes the team has a different experience than what comes through on WhatsApp."</a:t>
            </a:r>
          </a:p>
          <a:p>
            <a:endParaRPr dirty="0"/>
          </a:p>
          <a:p>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question — and this is about how you work today, not about Mantri.</a:t>
            </a:r>
          </a:p>
          <a:p>
            <a:endParaRPr/>
          </a:p>
          <a:p>
            <a:r>
              <a:t>When Ashish sends you a task on WhatsApp — follow up with this supplier, arrange a delivery, confirm a rate — how do you keep track of it until it's done? Do you write it down somewhere? Pin the message? Keep it in your head?</a:t>
            </a:r>
          </a:p>
          <a:p>
            <a:endParaRPr/>
          </a:p>
          <a:p>
            <a:r>
              <a:t>[Let them answer fully. Follow up: "And what happens when there are 5 or 6 tasks at the same time?"]"</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 question. Everyone has had a moment where something slipped — a follow-up that was forgotten, a delivery that was late because someone didn't get the message. Can you think of a recent example? What happened, and what caused it?</a:t>
            </a:r>
          </a:p>
          <a:p>
            <a:endParaRPr/>
          </a:p>
          <a:p>
            <a:r>
              <a:t>[This question surfaces real failure modes. Listen carefully. Don't rush past the answer. Follow up: "How often does something like that happen?", "What was the impact?"]"</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"Third question — about trust. If Mantri sent you a reminder — 'this supplier hasn't replied in 48 hours, follow up' — what would it need to look like for you to trust it and act on it? And what would make you think 'this is wrong' and ignore it?</a:t>
            </a:r>
          </a:p>
          <a:p>
            <a:endParaRPr/>
          </a:p>
          <a:p>
            <a:r>
              <a:t>[Follow up: "How many reminders a day would feel helpful? How many would feel like noise?", "Has anyone used any reminder or task tool before? What happened?"]"</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"Fourth question — and this is really important for us to understand. Are there times when something gets resolved outside WhatsApp — a quick phone call, a conversation in person — and no one updates the group? How often does that happen?</a:t>
            </a:r>
          </a:p>
          <a:p>
            <a:endParaRPr/>
          </a:p>
          <a:p>
            <a:r>
              <a:t>[This is a key question for the missing-entries risk. Don't lead them. Listen for: 'haan, Ashish calls me directly', 'sometimes I just go to the supplier', 'phone pe ho jaata hai'. Follow up: 'When that happens, does Ashish know it's been handled?']"</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question — and it has two parts. First: if Mantri worked perfectly, what's the one thing you'd most want it to help you with? What would make the biggest difference in your day?</a:t>
            </a:r>
          </a:p>
          <a:p>
            <a:endParaRPr/>
          </a:p>
          <a:p>
            <a:r>
              <a:t>And second: is there anything you're still worried about, even after everything we've discussed today?</a:t>
            </a:r>
          </a:p>
          <a:p>
            <a:endParaRPr/>
          </a:p>
          <a:p>
            <a:r>
              <a:t>[Let every person in the room answer both parts. Don't rush. This is where the most honest feedback comes.]"</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it's your turn to ask us anything.</a:t>
            </a:r>
          </a:p>
          <a:p>
            <a:endParaRPr/>
          </a:p>
          <a:p>
            <a:r>
              <a:t>[Anticipated questions and honest answers:]</a:t>
            </a:r>
          </a:p>
          <a:p>
            <a:endParaRPr/>
          </a:p>
          <a:p>
            <a:r>
              <a:t>'How will you use what we said today?' — Everything you told us goes directly into what we build. Your concerns become our design constraints. Your suggestions become features.</a:t>
            </a:r>
          </a:p>
          <a:p>
            <a:endParaRPr/>
          </a:p>
          <a:p>
            <a:r>
              <a:t>'When will this be ready?' — We're targeting a working version by late April. You'll be among the first to try it.</a:t>
            </a:r>
          </a:p>
          <a:p>
            <a:endParaRPr/>
          </a:p>
          <a:p>
            <a:r>
              <a:t>'How do we give feedback later?' — We'll set up a simple way for you to send us feedback as you use it. Ashish will also pass on your feedback directly.</a:t>
            </a:r>
          </a:p>
          <a:p>
            <a:endParaRPr/>
          </a:p>
          <a:p>
            <a:r>
              <a:t>[Take whatever questions come. Be honest if you don't know the answer.]"</a:t>
            </a:r>
          </a:p>
          <a:p>
            <a:endParaRPr/>
          </a:p>
          <a:p>
            <a:r>
              <a:t>---</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close, let me reflect back what I heard today.</a:t>
            </a:r>
          </a:p>
          <a:p>
            <a:endParaRPr/>
          </a:p>
          <a:p>
            <a:r>
              <a:t>[FILL IN LIVE: pick 2-3 of the most important things that came up in the interview section. Paraphrase back to the room — 'I heard that [X] is a concern', 'It sounds like [Y] would be most useful', 'The question about [Z] is something we'll take seriously.' This shows you actually listened and the session wasn't performative.]</a:t>
            </a:r>
          </a:p>
          <a:p>
            <a:endParaRPr/>
          </a:p>
          <a:p>
            <a:r>
              <a:t>Here's what happens next. Everything you told us goes into the next build. We'll keep Ashish updated on progress. And when we have something working, you'll be the first team to use it for real — before anyone else.</a:t>
            </a:r>
          </a:p>
          <a:p>
            <a:endParaRPr/>
          </a:p>
          <a:p>
            <a:r>
              <a:t>Thank you. Genuinely. Your honesty today is what makes this worth building."</a:t>
            </a:r>
          </a:p>
          <a:p>
            <a:endParaRPr/>
          </a:p>
          <a:p>
            <a:r>
              <a:t>---</a:t>
            </a:r>
          </a:p>
          <a:p>
            <a:endParaRPr/>
          </a:p>
          <a:p>
            <a:r>
              <a:t>---</a:t>
            </a:r>
          </a:p>
          <a:p>
            <a:endParaRPr/>
          </a:p>
          <a:p>
            <a:r>
              <a:t>## FACILITATOR NOTES</a:t>
            </a:r>
          </a:p>
          <a:p>
            <a:endParaRPr/>
          </a:p>
          <a:p>
            <a:r>
              <a:t>### Before the session</a:t>
            </a:r>
          </a:p>
          <a:p>
            <a:r>
              <a:t>- Share the Google Meet link with Ashish 24 hours ahead</a:t>
            </a:r>
          </a:p>
          <a:p>
            <a:r>
              <a:t>- Ask Ashish to ensure all staff are in a quiet room with one device showing the screen</a:t>
            </a:r>
          </a:p>
          <a:p>
            <a:r>
              <a:t>- Test screen share and audio 15 minutes before the call</a:t>
            </a:r>
          </a:p>
          <a:p>
            <a:r>
              <a:t>- Have the interview analysis prompt open in a separate tab — paste transcript immediately after</a:t>
            </a:r>
          </a:p>
          <a:p>
            <a:endParaRPr/>
          </a:p>
          <a:p>
            <a:r>
              <a:t>### During the session</a:t>
            </a:r>
          </a:p>
          <a:p>
            <a:r>
              <a:t>- Keep slides brief on screen — don't read from them</a:t>
            </a:r>
          </a:p>
          <a:p>
            <a:r>
              <a:t>- After each interview question: wait for silence before moving on. Silence means they're thinking.</a:t>
            </a:r>
          </a:p>
          <a:p>
            <a:r>
              <a:t>- Take running notes on the side — especially quotes and anything that surprises you</a:t>
            </a:r>
          </a:p>
          <a:p>
            <a:r>
              <a:t>- If anyone is quiet: "Aap ka kya lagta hai?" — direct them gently, don't skip them</a:t>
            </a:r>
          </a:p>
          <a:p>
            <a:r>
              <a:t>- If a concern comes up that you can't address honestly: "That's a fair concern. We don't have a full answer yet — but I want to make sure we come back to it."</a:t>
            </a:r>
          </a:p>
          <a:p>
            <a:endParaRPr/>
          </a:p>
          <a:p>
            <a:r>
              <a:t>### After the session</a:t>
            </a:r>
          </a:p>
          <a:p>
            <a:r>
              <a:t>- Run Google Meet transcript through Whisper for clean output</a:t>
            </a:r>
          </a:p>
          <a:p>
            <a:r>
              <a:t>- Feed transcript into `prompts/interview_analysis_prompt.txt`</a:t>
            </a:r>
          </a:p>
          <a:p>
            <a:r>
              <a:t>- Share key findings with Ashish within 24 hours</a:t>
            </a:r>
          </a:p>
          <a:p>
            <a:r>
              <a:t>- Note any edge cases or design decisions that came up — add to task taxonomy docs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1371600" y="2011680"/>
            <a:ext cx="9144000" cy="1371600"/>
          </a:xfrm>
          <a:prstGeom prst="rect">
            <a:avLst/>
          </a:prstGeom>
          <a:noFill/>
        </p:spPr>
        <p:txBody>
          <a:bodyPr wrap="square">
            <a:spAutoFit/>
          </a:bodyPr>
          <a:lstStyle/>
          <a:p>
            <a:pPr>
              <a:defRPr sz="4000" b="1">
                <a:solidFill>
                  <a:srgbClr val="FFFFFF"/>
                </a:solidFill>
              </a:defRPr>
            </a:pPr>
            <a:r>
              <a:t>MANTRI — Operations Assistant</a:t>
            </a:r>
          </a:p>
        </p:txBody>
      </p:sp>
      <p:sp>
        <p:nvSpPr>
          <p:cNvPr id="3" name="TextBox 2"/>
          <p:cNvSpPr txBox="1"/>
          <p:nvPr/>
        </p:nvSpPr>
        <p:spPr>
          <a:xfrm>
            <a:off x="1371600" y="3474720"/>
            <a:ext cx="9144000" cy="731520"/>
          </a:xfrm>
          <a:prstGeom prst="rect">
            <a:avLst/>
          </a:prstGeom>
          <a:noFill/>
        </p:spPr>
        <p:txBody>
          <a:bodyPr wrap="none">
            <a:spAutoFit/>
          </a:bodyPr>
          <a:lstStyle/>
          <a:p>
            <a:pPr>
              <a:defRPr sz="2200">
                <a:solidFill>
                  <a:srgbClr val="CCDDEE"/>
                </a:solidFill>
              </a:defRPr>
            </a:pPr>
            <a:r>
              <a:t>A conversation about how we work together</a:t>
            </a:r>
          </a:p>
        </p:txBody>
      </p:sp>
      <p:sp>
        <p:nvSpPr>
          <p:cNvPr id="4" name="TextBox 3"/>
          <p:cNvSpPr txBox="1"/>
          <p:nvPr/>
        </p:nvSpPr>
        <p:spPr>
          <a:xfrm>
            <a:off x="1371600" y="5303520"/>
            <a:ext cx="3171637" cy="338554"/>
          </a:xfrm>
          <a:prstGeom prst="rect">
            <a:avLst/>
          </a:prstGeom>
          <a:noFill/>
        </p:spPr>
        <p:txBody>
          <a:bodyPr wrap="none">
            <a:spAutoFit/>
          </a:bodyPr>
          <a:lstStyle/>
          <a:p>
            <a:pPr>
              <a:defRPr sz="1600">
                <a:solidFill>
                  <a:srgbClr val="CCDDEE"/>
                </a:solidFill>
              </a:defRPr>
            </a:pPr>
            <a:r>
              <a:rPr dirty="0"/>
              <a:t>Kunal Chowdhury  ·  Ashish Chhabra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2</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The Problem We're Solving</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426305"/>
          </a:xfrm>
          <a:prstGeom prst="rect">
            <a:avLst/>
          </a:prstGeom>
          <a:noFill/>
        </p:spPr>
        <p:txBody>
          <a:bodyPr wrap="square">
            <a:spAutoFit/>
          </a:bodyPr>
          <a:lstStyle/>
          <a:p>
            <a:pPr>
              <a:spcBef>
                <a:spcPts val="1000"/>
              </a:spcBef>
              <a:spcAft>
                <a:spcPts val="400"/>
              </a:spcAft>
            </a:pPr>
            <a:r>
              <a:rPr sz="2100" dirty="0">
                <a:solidFill>
                  <a:srgbClr val="CCDDEE"/>
                </a:solidFill>
              </a:rPr>
              <a:t>•  Ashish </a:t>
            </a:r>
            <a:r>
              <a:rPr lang="en-US" sz="2100" dirty="0">
                <a:solidFill>
                  <a:srgbClr val="CCDDEE"/>
                </a:solidFill>
              </a:rPr>
              <a:t>and Staff </a:t>
            </a:r>
            <a:r>
              <a:rPr sz="2100" dirty="0">
                <a:solidFill>
                  <a:srgbClr val="CCDDEE"/>
                </a:solidFill>
              </a:rPr>
              <a:t>manage </a:t>
            </a:r>
            <a:r>
              <a:rPr lang="en-US" sz="2100" dirty="0">
                <a:solidFill>
                  <a:srgbClr val="CCDDEE"/>
                </a:solidFill>
              </a:rPr>
              <a:t>dozens of </a:t>
            </a:r>
            <a:r>
              <a:rPr sz="2100" dirty="0">
                <a:solidFill>
                  <a:srgbClr val="CCDDEE"/>
                </a:solidFill>
              </a:rPr>
              <a:t>operations from </a:t>
            </a:r>
            <a:r>
              <a:rPr lang="en-US" sz="2100" dirty="0">
                <a:solidFill>
                  <a:srgbClr val="CCDDEE"/>
                </a:solidFill>
              </a:rPr>
              <a:t>office</a:t>
            </a:r>
            <a:endParaRPr sz="2100" dirty="0">
              <a:solidFill>
                <a:srgbClr val="CCDDEE"/>
              </a:solidFill>
            </a:endParaRPr>
          </a:p>
          <a:p>
            <a:pPr>
              <a:spcBef>
                <a:spcPts val="1000"/>
              </a:spcBef>
              <a:spcAft>
                <a:spcPts val="400"/>
              </a:spcAft>
            </a:pPr>
            <a:r>
              <a:rPr sz="2100" dirty="0">
                <a:solidFill>
                  <a:srgbClr val="CCDDEE"/>
                </a:solidFill>
              </a:rPr>
              <a:t>•  Hundreds of daily WhatsApp messages across groups</a:t>
            </a:r>
          </a:p>
          <a:p>
            <a:pPr>
              <a:spcBef>
                <a:spcPts val="1000"/>
              </a:spcBef>
              <a:spcAft>
                <a:spcPts val="400"/>
              </a:spcAft>
            </a:pPr>
            <a:r>
              <a:rPr sz="2100" dirty="0">
                <a:solidFill>
                  <a:srgbClr val="CCDDEE"/>
                </a:solidFill>
              </a:rPr>
              <a:t>•  </a:t>
            </a:r>
            <a:r>
              <a:rPr lang="en-US" sz="2100" dirty="0">
                <a:solidFill>
                  <a:srgbClr val="CCDDEE"/>
                </a:solidFill>
              </a:rPr>
              <a:t>Sometimes t</a:t>
            </a:r>
            <a:r>
              <a:rPr sz="2100" dirty="0">
                <a:solidFill>
                  <a:srgbClr val="CCDDEE"/>
                </a:solidFill>
              </a:rPr>
              <a:t>asks get missed, follow-ups are </a:t>
            </a:r>
            <a:r>
              <a:rPr lang="en-US" sz="2100" dirty="0">
                <a:solidFill>
                  <a:srgbClr val="CCDDEE"/>
                </a:solidFill>
              </a:rPr>
              <a:t>overlooked</a:t>
            </a:r>
            <a:endParaRPr sz="2100" dirty="0">
              <a:solidFill>
                <a:srgbClr val="CCDDEE"/>
              </a:solidFill>
            </a:endParaRPr>
          </a:p>
          <a:p>
            <a:pPr>
              <a:spcBef>
                <a:spcPts val="1000"/>
              </a:spcBef>
              <a:spcAft>
                <a:spcPts val="400"/>
              </a:spcAft>
            </a:pPr>
            <a:r>
              <a:rPr sz="2100" dirty="0">
                <a:solidFill>
                  <a:srgbClr val="CCDDEE"/>
                </a:solidFill>
              </a:rPr>
              <a:t>•  Updates stay in 1:1 chats, miss group visibility</a:t>
            </a:r>
          </a:p>
          <a:p>
            <a:pPr>
              <a:spcBef>
                <a:spcPts val="1000"/>
              </a:spcBef>
              <a:spcAft>
                <a:spcPts val="400"/>
              </a:spcAft>
            </a:pPr>
            <a:r>
              <a:rPr sz="2100" dirty="0">
                <a:solidFill>
                  <a:srgbClr val="CCDDEE"/>
                </a:solidFill>
              </a:rPr>
              <a:t>•  Volume too high for any person to track </a:t>
            </a:r>
            <a:r>
              <a:rPr lang="en-US" sz="2100" dirty="0">
                <a:solidFill>
                  <a:srgbClr val="CCDDEE"/>
                </a:solidFill>
              </a:rPr>
              <a:t>completely</a:t>
            </a:r>
            <a:endParaRPr sz="2100" dirty="0">
              <a:solidFill>
                <a:srgbClr val="CCDDEE"/>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3</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WHAT MANTRI DOES</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426305"/>
          </a:xfrm>
          <a:prstGeom prst="rect">
            <a:avLst/>
          </a:prstGeom>
          <a:noFill/>
        </p:spPr>
        <p:txBody>
          <a:bodyPr wrap="square">
            <a:spAutoFit/>
          </a:bodyPr>
          <a:lstStyle/>
          <a:p>
            <a:pPr>
              <a:spcBef>
                <a:spcPts val="1000"/>
              </a:spcBef>
              <a:spcAft>
                <a:spcPts val="400"/>
              </a:spcAft>
            </a:pPr>
            <a:r>
              <a:rPr sz="2100" dirty="0">
                <a:solidFill>
                  <a:srgbClr val="CCDDEE"/>
                </a:solidFill>
              </a:rPr>
              <a:t>•  Mantri reads </a:t>
            </a:r>
            <a:r>
              <a:rPr lang="en-US" sz="2100" dirty="0">
                <a:solidFill>
                  <a:srgbClr val="CCDDEE"/>
                </a:solidFill>
              </a:rPr>
              <a:t>permitted</a:t>
            </a:r>
            <a:r>
              <a:rPr sz="2100" dirty="0">
                <a:solidFill>
                  <a:srgbClr val="CCDDEE"/>
                </a:solidFill>
              </a:rPr>
              <a:t> WhatsApp groups and creates task list</a:t>
            </a:r>
            <a:r>
              <a:rPr lang="en-US" sz="2100" dirty="0">
                <a:solidFill>
                  <a:srgbClr val="CCDDEE"/>
                </a:solidFill>
              </a:rPr>
              <a:t>s</a:t>
            </a:r>
            <a:r>
              <a:rPr sz="2100" dirty="0">
                <a:solidFill>
                  <a:srgbClr val="CCDDEE"/>
                </a:solidFill>
              </a:rPr>
              <a:t>.</a:t>
            </a:r>
          </a:p>
          <a:p>
            <a:pPr>
              <a:spcBef>
                <a:spcPts val="1000"/>
              </a:spcBef>
              <a:spcAft>
                <a:spcPts val="400"/>
              </a:spcAft>
            </a:pPr>
            <a:r>
              <a:rPr sz="2100" dirty="0">
                <a:solidFill>
                  <a:srgbClr val="CCDDEE"/>
                </a:solidFill>
              </a:rPr>
              <a:t>•  The task list includes next steps, reminders, and flags.</a:t>
            </a:r>
          </a:p>
          <a:p>
            <a:pPr>
              <a:spcBef>
                <a:spcPts val="1000"/>
              </a:spcBef>
              <a:spcAft>
                <a:spcPts val="400"/>
              </a:spcAft>
            </a:pPr>
            <a:r>
              <a:rPr sz="2100" dirty="0">
                <a:solidFill>
                  <a:srgbClr val="CCDDEE"/>
                </a:solidFill>
              </a:rPr>
              <a:t>•  Mantri does NOT send messages.</a:t>
            </a:r>
          </a:p>
          <a:p>
            <a:pPr>
              <a:spcBef>
                <a:spcPts val="1000"/>
              </a:spcBef>
              <a:spcAft>
                <a:spcPts val="400"/>
              </a:spcAft>
            </a:pPr>
            <a:r>
              <a:rPr sz="2100" dirty="0">
                <a:solidFill>
                  <a:srgbClr val="CCDDEE"/>
                </a:solidFill>
              </a:rPr>
              <a:t>•  Mantri does NOT make decisions.</a:t>
            </a:r>
          </a:p>
          <a:p>
            <a:pPr>
              <a:spcBef>
                <a:spcPts val="1000"/>
              </a:spcBef>
              <a:spcAft>
                <a:spcPts val="400"/>
              </a:spcAft>
            </a:pPr>
            <a:r>
              <a:rPr sz="2100" dirty="0">
                <a:solidFill>
                  <a:srgbClr val="CCDDEE"/>
                </a:solidFill>
              </a:rPr>
              <a:t>•  It surfaces what needs attention; you decide the actions.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4</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Our Values</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1923604"/>
          </a:xfrm>
          <a:prstGeom prst="rect">
            <a:avLst/>
          </a:prstGeom>
          <a:noFill/>
        </p:spPr>
        <p:txBody>
          <a:bodyPr wrap="square">
            <a:spAutoFit/>
          </a:bodyPr>
          <a:lstStyle/>
          <a:p>
            <a:pPr>
              <a:spcBef>
                <a:spcPts val="1000"/>
              </a:spcBef>
              <a:spcAft>
                <a:spcPts val="400"/>
              </a:spcAft>
            </a:pPr>
            <a:r>
              <a:rPr sz="2100" dirty="0">
                <a:solidFill>
                  <a:srgbClr val="CCDDEE"/>
                </a:solidFill>
              </a:rPr>
              <a:t>•  Privacy first: Only whitelisted groups, nothing else.</a:t>
            </a:r>
          </a:p>
          <a:p>
            <a:pPr>
              <a:spcBef>
                <a:spcPts val="1000"/>
              </a:spcBef>
              <a:spcAft>
                <a:spcPts val="400"/>
              </a:spcAft>
            </a:pPr>
            <a:r>
              <a:rPr sz="2100" dirty="0">
                <a:solidFill>
                  <a:srgbClr val="CCDDEE"/>
                </a:solidFill>
              </a:rPr>
              <a:t>•  Minimal noise: Only helpful reminders, no alert floods.</a:t>
            </a:r>
          </a:p>
          <a:p>
            <a:pPr>
              <a:spcBef>
                <a:spcPts val="1000"/>
              </a:spcBef>
              <a:spcAft>
                <a:spcPts val="400"/>
              </a:spcAft>
            </a:pPr>
            <a:r>
              <a:rPr sz="2100" dirty="0">
                <a:solidFill>
                  <a:srgbClr val="CCDDEE"/>
                </a:solidFill>
              </a:rPr>
              <a:t>•  You are always in control; override anything.</a:t>
            </a:r>
          </a:p>
          <a:p>
            <a:pPr>
              <a:spcBef>
                <a:spcPts val="1000"/>
              </a:spcBef>
              <a:spcAft>
                <a:spcPts val="400"/>
              </a:spcAft>
            </a:pPr>
            <a:r>
              <a:rPr sz="2100" dirty="0">
                <a:solidFill>
                  <a:srgbClr val="CCDDEE"/>
                </a:solidFill>
              </a:rPr>
              <a:t>•  Built with </a:t>
            </a:r>
            <a:r>
              <a:rPr lang="en-US" sz="2100" dirty="0">
                <a:solidFill>
                  <a:srgbClr val="CCDDEE"/>
                </a:solidFill>
              </a:rPr>
              <a:t>users</a:t>
            </a:r>
            <a:r>
              <a:rPr sz="2100" dirty="0">
                <a:solidFill>
                  <a:srgbClr val="CCDDEE"/>
                </a:solidFill>
              </a:rPr>
              <a:t>; your feedback shapes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5</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How It Works: Step 1</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426305"/>
          </a:xfrm>
          <a:prstGeom prst="rect">
            <a:avLst/>
          </a:prstGeom>
          <a:noFill/>
        </p:spPr>
        <p:txBody>
          <a:bodyPr wrap="square">
            <a:spAutoFit/>
          </a:bodyPr>
          <a:lstStyle/>
          <a:p>
            <a:pPr>
              <a:spcBef>
                <a:spcPts val="1000"/>
              </a:spcBef>
              <a:spcAft>
                <a:spcPts val="400"/>
              </a:spcAft>
            </a:pPr>
            <a:r>
              <a:rPr sz="2100" dirty="0">
                <a:solidFill>
                  <a:srgbClr val="CCDDEE"/>
                </a:solidFill>
              </a:rPr>
              <a:t>•  Mantri reads the groups.</a:t>
            </a:r>
          </a:p>
          <a:p>
            <a:pPr>
              <a:spcBef>
                <a:spcPts val="1000"/>
              </a:spcBef>
              <a:spcAft>
                <a:spcPts val="400"/>
              </a:spcAft>
            </a:pPr>
            <a:r>
              <a:rPr sz="2100" dirty="0">
                <a:solidFill>
                  <a:srgbClr val="CCDDEE"/>
                </a:solidFill>
              </a:rPr>
              <a:t>•  Source: WhatsApp Groups (permitted only).</a:t>
            </a:r>
          </a:p>
          <a:p>
            <a:pPr>
              <a:spcBef>
                <a:spcPts val="1000"/>
              </a:spcBef>
              <a:spcAft>
                <a:spcPts val="400"/>
              </a:spcAft>
            </a:pPr>
            <a:r>
              <a:rPr sz="2100" dirty="0">
                <a:solidFill>
                  <a:srgbClr val="CCDDEE"/>
                </a:solidFill>
              </a:rPr>
              <a:t>•  Understands chat content and context.</a:t>
            </a:r>
            <a:endParaRPr lang="en-US" sz="2100" dirty="0">
              <a:solidFill>
                <a:srgbClr val="CCDDEE"/>
              </a:solidFill>
            </a:endParaRPr>
          </a:p>
          <a:p>
            <a:pPr>
              <a:spcBef>
                <a:spcPts val="1000"/>
              </a:spcBef>
              <a:spcAft>
                <a:spcPts val="400"/>
              </a:spcAft>
            </a:pPr>
            <a:r>
              <a:rPr lang="en-IN" sz="2100" dirty="0">
                <a:solidFill>
                  <a:srgbClr val="CCDDEE"/>
                </a:solidFill>
              </a:rPr>
              <a:t>•  Identifies the entities (client, supplier, staff, etc)</a:t>
            </a:r>
          </a:p>
          <a:p>
            <a:pPr>
              <a:spcBef>
                <a:spcPts val="1000"/>
              </a:spcBef>
              <a:spcAft>
                <a:spcPts val="400"/>
              </a:spcAft>
            </a:pPr>
            <a:r>
              <a:rPr lang="en-IN" sz="2100" dirty="0">
                <a:solidFill>
                  <a:srgbClr val="CCDDEE"/>
                </a:solidFill>
              </a:rPr>
              <a:t>•  Matches with existing tasks or Detects new tasks (order, book keeping, etc)</a:t>
            </a:r>
            <a:endParaRPr sz="2100" dirty="0">
              <a:solidFill>
                <a:srgbClr val="CCDDE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6</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rPr dirty="0"/>
              <a:t>Step 2: Mantri Builds Task</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929007"/>
          </a:xfrm>
          <a:prstGeom prst="rect">
            <a:avLst/>
          </a:prstGeom>
          <a:noFill/>
        </p:spPr>
        <p:txBody>
          <a:bodyPr wrap="square">
            <a:spAutoFit/>
          </a:bodyPr>
          <a:lstStyle/>
          <a:p>
            <a:pPr>
              <a:spcBef>
                <a:spcPts val="1000"/>
              </a:spcBef>
              <a:spcAft>
                <a:spcPts val="400"/>
              </a:spcAft>
            </a:pPr>
            <a:r>
              <a:rPr lang="en-US" sz="2100" dirty="0">
                <a:solidFill>
                  <a:srgbClr val="CCDDEE"/>
                </a:solidFill>
              </a:rPr>
              <a:t>Example:</a:t>
            </a:r>
          </a:p>
          <a:p>
            <a:pPr>
              <a:spcBef>
                <a:spcPts val="1000"/>
              </a:spcBef>
              <a:spcAft>
                <a:spcPts val="400"/>
              </a:spcAft>
            </a:pPr>
            <a:r>
              <a:rPr sz="2100" dirty="0">
                <a:solidFill>
                  <a:srgbClr val="CCDDEE"/>
                </a:solidFill>
              </a:rPr>
              <a:t>•  Mantri builds a new task: Tandoor Delivery.</a:t>
            </a:r>
          </a:p>
          <a:p>
            <a:pPr>
              <a:spcBef>
                <a:spcPts val="1000"/>
              </a:spcBef>
              <a:spcAft>
                <a:spcPts val="400"/>
              </a:spcAft>
            </a:pPr>
            <a:r>
              <a:rPr sz="2100" dirty="0">
                <a:solidFill>
                  <a:srgbClr val="CCDDEE"/>
                </a:solidFill>
              </a:rPr>
              <a:t>•  Task details include status, due date, and priority.</a:t>
            </a:r>
          </a:p>
          <a:p>
            <a:pPr>
              <a:spcBef>
                <a:spcPts val="1000"/>
              </a:spcBef>
              <a:spcAft>
                <a:spcPts val="400"/>
              </a:spcAft>
            </a:pPr>
            <a:r>
              <a:rPr sz="2100" dirty="0">
                <a:solidFill>
                  <a:srgbClr val="CCDDEE"/>
                </a:solidFill>
              </a:rPr>
              <a:t>•  Sub-task: Confirm exact delivery time with supplier.</a:t>
            </a:r>
          </a:p>
          <a:p>
            <a:pPr>
              <a:spcBef>
                <a:spcPts val="1000"/>
              </a:spcBef>
              <a:spcAft>
                <a:spcPts val="400"/>
              </a:spcAft>
            </a:pPr>
            <a:r>
              <a:rPr sz="2100" dirty="0">
                <a:solidFill>
                  <a:srgbClr val="CCDDEE"/>
                </a:solidFill>
              </a:rPr>
              <a:t>•  Sub-task: Notify client of the delivery window.</a:t>
            </a:r>
          </a:p>
          <a:p>
            <a:pPr>
              <a:spcBef>
                <a:spcPts val="1000"/>
              </a:spcBef>
              <a:spcAft>
                <a:spcPts val="400"/>
              </a:spcAft>
            </a:pPr>
            <a:r>
              <a:rPr sz="2100" dirty="0">
                <a:solidFill>
                  <a:srgbClr val="CCDDEE"/>
                </a:solidFill>
              </a:rPr>
              <a:t>•  Sub-task: Arrange and confirm receiving staff.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7</a:t>
            </a:r>
          </a:p>
        </p:txBody>
      </p:sp>
      <p:sp>
        <p:nvSpPr>
          <p:cNvPr id="3" name="TextBox 2"/>
          <p:cNvSpPr txBox="1"/>
          <p:nvPr/>
        </p:nvSpPr>
        <p:spPr>
          <a:xfrm>
            <a:off x="914400" y="228600"/>
            <a:ext cx="7315849" cy="553998"/>
          </a:xfrm>
          <a:prstGeom prst="rect">
            <a:avLst/>
          </a:prstGeom>
          <a:noFill/>
        </p:spPr>
        <p:txBody>
          <a:bodyPr wrap="none">
            <a:spAutoFit/>
          </a:bodyPr>
          <a:lstStyle/>
          <a:p>
            <a:pPr>
              <a:defRPr sz="3000" b="1">
                <a:solidFill>
                  <a:srgbClr val="FFFFFF"/>
                </a:solidFill>
              </a:defRPr>
            </a:pPr>
            <a:r>
              <a:rPr lang="en-IN" dirty="0"/>
              <a:t>Step 2: Mantri flags gaps and clarifies doubts</a:t>
            </a:r>
            <a:endParaRPr dirty="0"/>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1420902"/>
          </a:xfrm>
          <a:prstGeom prst="rect">
            <a:avLst/>
          </a:prstGeom>
          <a:noFill/>
        </p:spPr>
        <p:txBody>
          <a:bodyPr wrap="square">
            <a:spAutoFit/>
          </a:bodyPr>
          <a:lstStyle/>
          <a:p>
            <a:pPr>
              <a:spcBef>
                <a:spcPts val="1000"/>
              </a:spcBef>
              <a:spcAft>
                <a:spcPts val="400"/>
              </a:spcAft>
            </a:pPr>
            <a:r>
              <a:rPr sz="2100" dirty="0">
                <a:solidFill>
                  <a:srgbClr val="CCDDEE"/>
                </a:solidFill>
              </a:rPr>
              <a:t>•  Delivery time not confirmed. Ashish asked for precision; no reply.</a:t>
            </a:r>
          </a:p>
          <a:p>
            <a:pPr>
              <a:spcBef>
                <a:spcPts val="1000"/>
              </a:spcBef>
              <a:spcAft>
                <a:spcPts val="400"/>
              </a:spcAft>
            </a:pPr>
            <a:r>
              <a:rPr sz="2100" dirty="0">
                <a:solidFill>
                  <a:srgbClr val="CCDDEE"/>
                </a:solidFill>
              </a:rPr>
              <a:t>•  No client notification found. Is client aware of today's delivery?</a:t>
            </a:r>
          </a:p>
          <a:p>
            <a:pPr>
              <a:spcBef>
                <a:spcPts val="1000"/>
              </a:spcBef>
              <a:spcAft>
                <a:spcPts val="400"/>
              </a:spcAft>
            </a:pPr>
            <a:r>
              <a:rPr sz="2100" dirty="0">
                <a:solidFill>
                  <a:srgbClr val="CCDDEE"/>
                </a:solidFill>
              </a:rPr>
              <a:t>•  Sharma ji and Sharma bhai used; assumed same person. Confirm.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8</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You Stay In Control</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Tandoor Delivery — Sharma Supplier</a:t>
            </a:r>
          </a:p>
          <a:p>
            <a:pPr>
              <a:spcBef>
                <a:spcPts val="1000"/>
              </a:spcBef>
              <a:spcAft>
                <a:spcPts val="400"/>
              </a:spcAft>
            </a:pPr>
            <a:r>
              <a:rPr sz="2100">
                <a:solidFill>
                  <a:srgbClr val="CCDDEE"/>
                </a:solidFill>
              </a:rPr>
              <a:t>•  Confirm exact delivery time: Done.</a:t>
            </a:r>
          </a:p>
          <a:p>
            <a:pPr>
              <a:spcBef>
                <a:spcPts val="1000"/>
              </a:spcBef>
              <a:spcAft>
                <a:spcPts val="400"/>
              </a:spcAft>
            </a:pPr>
            <a:r>
              <a:rPr sz="2100">
                <a:solidFill>
                  <a:srgbClr val="CCDDEE"/>
                </a:solidFill>
              </a:rPr>
              <a:t>•  Notify client of delivery: Done.</a:t>
            </a:r>
          </a:p>
          <a:p>
            <a:pPr>
              <a:spcBef>
                <a:spcPts val="1000"/>
              </a:spcBef>
              <a:spcAft>
                <a:spcPts val="400"/>
              </a:spcAft>
            </a:pPr>
            <a:r>
              <a:rPr sz="2100">
                <a:solidFill>
                  <a:srgbClr val="CCDDEE"/>
                </a:solidFill>
              </a:rPr>
              <a:t>•  Arrange receiving staff: In progress.</a:t>
            </a:r>
          </a:p>
          <a:p>
            <a:pPr>
              <a:spcBef>
                <a:spcPts val="1000"/>
              </a:spcBef>
              <a:spcAft>
                <a:spcPts val="400"/>
              </a:spcAft>
            </a:pPr>
            <a:r>
              <a:rPr sz="2100">
                <a:solidFill>
                  <a:srgbClr val="CCDDEE"/>
                </a:solidFill>
              </a:rPr>
              <a:t>•  Nothing is final; correct it at any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9</a:t>
            </a:r>
          </a:p>
        </p:txBody>
      </p:sp>
      <p:sp>
        <p:nvSpPr>
          <p:cNvPr id="3" name="TextBox 2"/>
          <p:cNvSpPr txBox="1"/>
          <p:nvPr/>
        </p:nvSpPr>
        <p:spPr>
          <a:xfrm>
            <a:off x="914400" y="228600"/>
            <a:ext cx="3402213" cy="553998"/>
          </a:xfrm>
          <a:prstGeom prst="rect">
            <a:avLst/>
          </a:prstGeom>
          <a:noFill/>
        </p:spPr>
        <p:txBody>
          <a:bodyPr wrap="none">
            <a:spAutoFit/>
          </a:bodyPr>
          <a:lstStyle/>
          <a:p>
            <a:pPr>
              <a:defRPr sz="3000" b="1">
                <a:solidFill>
                  <a:srgbClr val="FFFFFF"/>
                </a:solidFill>
              </a:defRPr>
            </a:pPr>
            <a:r>
              <a:rPr lang="en-US" dirty="0"/>
              <a:t>Real </a:t>
            </a:r>
            <a:r>
              <a:rPr dirty="0"/>
              <a:t>Case Overview</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dirty="0">
                <a:solidFill>
                  <a:srgbClr val="CCDDEE"/>
                </a:solidFill>
              </a:rPr>
              <a:t>•  Mantri analyzed 4 WhatsApp groups, 904 messages, and 14 images.</a:t>
            </a:r>
          </a:p>
          <a:p>
            <a:pPr>
              <a:spcBef>
                <a:spcPts val="1000"/>
              </a:spcBef>
              <a:spcAft>
                <a:spcPts val="400"/>
              </a:spcAft>
            </a:pPr>
            <a:r>
              <a:rPr sz="2100" dirty="0">
                <a:solidFill>
                  <a:srgbClr val="CCDDEE"/>
                </a:solidFill>
              </a:rPr>
              <a:t>•  Identified 12 parent tasks and separated multiple suppliers.</a:t>
            </a:r>
          </a:p>
          <a:p>
            <a:pPr>
              <a:spcBef>
                <a:spcPts val="1000"/>
              </a:spcBef>
              <a:spcAft>
                <a:spcPts val="400"/>
              </a:spcAft>
            </a:pPr>
            <a:r>
              <a:rPr sz="2100" dirty="0">
                <a:solidFill>
                  <a:srgbClr val="CCDDEE"/>
                </a:solidFill>
              </a:rPr>
              <a:t>•  Flagged payments without matching GST bills.</a:t>
            </a:r>
          </a:p>
          <a:p>
            <a:pPr>
              <a:spcBef>
                <a:spcPts val="1000"/>
              </a:spcBef>
              <a:spcAft>
                <a:spcPts val="400"/>
              </a:spcAft>
            </a:pPr>
            <a:r>
              <a:rPr sz="2100" dirty="0">
                <a:solidFill>
                  <a:srgbClr val="CCDDEE"/>
                </a:solidFill>
              </a:rPr>
              <a:t>•  Surfaced items at risk of being missed.</a:t>
            </a:r>
          </a:p>
          <a:p>
            <a:pPr>
              <a:spcBef>
                <a:spcPts val="1000"/>
              </a:spcBef>
              <a:spcAft>
                <a:spcPts val="400"/>
              </a:spcAft>
            </a:pPr>
            <a:r>
              <a:rPr sz="2100" dirty="0">
                <a:solidFill>
                  <a:srgbClr val="CCDDEE"/>
                </a:solidFill>
              </a:rPr>
              <a:t>•  Flagged ambiguous messages for human review.</a:t>
            </a:r>
          </a:p>
          <a:p>
            <a:pPr>
              <a:spcBef>
                <a:spcPts val="1000"/>
              </a:spcBef>
              <a:spcAft>
                <a:spcPts val="400"/>
              </a:spcAft>
            </a:pPr>
            <a:r>
              <a:rPr sz="2100" dirty="0">
                <a:solidFill>
                  <a:srgbClr val="CCDDEE"/>
                </a:solidFill>
              </a:rPr>
              <a:t>•  Achieved an evaluation score of 91 out of 100.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10</a:t>
            </a:r>
          </a:p>
        </p:txBody>
      </p:sp>
      <p:sp>
        <p:nvSpPr>
          <p:cNvPr id="3" name="TextBox 2"/>
          <p:cNvSpPr txBox="1"/>
          <p:nvPr/>
        </p:nvSpPr>
        <p:spPr>
          <a:xfrm>
            <a:off x="914400" y="228600"/>
            <a:ext cx="3928896" cy="553998"/>
          </a:xfrm>
          <a:prstGeom prst="rect">
            <a:avLst/>
          </a:prstGeom>
          <a:noFill/>
        </p:spPr>
        <p:txBody>
          <a:bodyPr wrap="none">
            <a:spAutoFit/>
          </a:bodyPr>
          <a:lstStyle/>
          <a:p>
            <a:pPr>
              <a:defRPr sz="3000" b="1">
                <a:solidFill>
                  <a:srgbClr val="FFFFFF"/>
                </a:solidFill>
              </a:defRPr>
            </a:pPr>
            <a:r>
              <a:rPr lang="en-US" dirty="0"/>
              <a:t>Mantri</a:t>
            </a:r>
            <a:r>
              <a:rPr dirty="0"/>
              <a:t> Output</a:t>
            </a:r>
            <a:r>
              <a:rPr lang="en-US" dirty="0"/>
              <a:t> Samples</a:t>
            </a:r>
            <a:endParaRPr dirty="0"/>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Sample: Window AC order (Voltas/JRBK): 3 ACs for SATA Regiment.</a:t>
            </a:r>
          </a:p>
          <a:p>
            <a:pPr>
              <a:spcBef>
                <a:spcPts val="1000"/>
              </a:spcBef>
              <a:spcAft>
                <a:spcPts val="400"/>
              </a:spcAft>
            </a:pPr>
            <a:r>
              <a:rPr sz="2100">
                <a:solidFill>
                  <a:srgbClr val="CCDDEE"/>
                </a:solidFill>
              </a:rPr>
              <a:t>•  Status: In Progress (dispatch unconfirmed); Due Mar 24 (unit relocates).</a:t>
            </a:r>
          </a:p>
          <a:p>
            <a:pPr>
              <a:spcBef>
                <a:spcPts val="1000"/>
              </a:spcBef>
              <a:spcAft>
                <a:spcPts val="400"/>
              </a:spcAft>
            </a:pPr>
            <a:r>
              <a:rPr sz="2100">
                <a:solidFill>
                  <a:srgbClr val="CCDDEE"/>
                </a:solidFill>
              </a:rPr>
              <a:t>•  Priority: HIGH; Sources: Thread 1, Thread 2.</a:t>
            </a:r>
          </a:p>
          <a:p>
            <a:pPr>
              <a:spcBef>
                <a:spcPts val="1000"/>
              </a:spcBef>
              <a:spcAft>
                <a:spcPts val="400"/>
              </a:spcAft>
            </a:pPr>
            <a:r>
              <a:rPr sz="2100">
                <a:solidFill>
                  <a:srgbClr val="CCDDEE"/>
                </a:solidFill>
              </a:rPr>
              <a:t>•  Task 1 (PENDING): Confirm dispatch with Punit; 9-day delay is high risk.</a:t>
            </a:r>
          </a:p>
          <a:p>
            <a:pPr>
              <a:spcBef>
                <a:spcPts val="1000"/>
              </a:spcBef>
              <a:spcAft>
                <a:spcPts val="400"/>
              </a:spcAft>
            </a:pPr>
            <a:r>
              <a:rPr sz="2100">
                <a:solidFill>
                  <a:srgbClr val="CCDDEE"/>
                </a:solidFill>
              </a:rPr>
              <a:t>•  Task 2 (PENDING): Arrange delivery vehicle; book after dispatch confirmed.</a:t>
            </a:r>
          </a:p>
          <a:p>
            <a:pPr>
              <a:spcBef>
                <a:spcPts val="1000"/>
              </a:spcBef>
              <a:spcAft>
                <a:spcPts val="400"/>
              </a:spcAft>
            </a:pPr>
            <a:r>
              <a:rPr sz="2100">
                <a:solidFill>
                  <a:srgbClr val="CCDDEE"/>
                </a:solidFill>
              </a:rPr>
              <a:t>•  Task 3 (PENDING): Client receipt confirmation; ensure Sub Arvind Sir signs off.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11</a:t>
            </a:r>
          </a:p>
        </p:txBody>
      </p:sp>
      <p:sp>
        <p:nvSpPr>
          <p:cNvPr id="3" name="TextBox 2"/>
          <p:cNvSpPr txBox="1"/>
          <p:nvPr/>
        </p:nvSpPr>
        <p:spPr>
          <a:xfrm>
            <a:off x="914400" y="228600"/>
            <a:ext cx="4620304" cy="553998"/>
          </a:xfrm>
          <a:prstGeom prst="rect">
            <a:avLst/>
          </a:prstGeom>
          <a:noFill/>
        </p:spPr>
        <p:txBody>
          <a:bodyPr wrap="none">
            <a:spAutoFit/>
          </a:bodyPr>
          <a:lstStyle/>
          <a:p>
            <a:pPr>
              <a:defRPr sz="3000" b="1">
                <a:solidFill>
                  <a:srgbClr val="FFFFFF"/>
                </a:solidFill>
              </a:defRPr>
            </a:pPr>
            <a:r>
              <a:rPr dirty="0"/>
              <a:t>SATA </a:t>
            </a:r>
            <a:r>
              <a:rPr lang="en-US" dirty="0"/>
              <a:t>Case</a:t>
            </a:r>
            <a:r>
              <a:rPr dirty="0"/>
              <a:t>: W</a:t>
            </a:r>
            <a:r>
              <a:rPr lang="en-US" dirty="0"/>
              <a:t>hat we Caught</a:t>
            </a:r>
            <a:endParaRPr dirty="0"/>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426305"/>
          </a:xfrm>
          <a:prstGeom prst="rect">
            <a:avLst/>
          </a:prstGeom>
          <a:noFill/>
        </p:spPr>
        <p:txBody>
          <a:bodyPr wrap="square">
            <a:spAutoFit/>
          </a:bodyPr>
          <a:lstStyle/>
          <a:p>
            <a:pPr>
              <a:spcBef>
                <a:spcPts val="1000"/>
              </a:spcBef>
              <a:spcAft>
                <a:spcPts val="400"/>
              </a:spcAft>
            </a:pPr>
            <a:r>
              <a:rPr sz="2100" dirty="0">
                <a:solidFill>
                  <a:srgbClr val="CCDDEE"/>
                </a:solidFill>
              </a:rPr>
              <a:t>•  Amazon orders silent 21 days; high risk, flagged.</a:t>
            </a:r>
          </a:p>
          <a:p>
            <a:pPr>
              <a:spcBef>
                <a:spcPts val="1000"/>
              </a:spcBef>
              <a:spcAft>
                <a:spcPts val="400"/>
              </a:spcAft>
            </a:pPr>
            <a:r>
              <a:rPr sz="2100" dirty="0">
                <a:solidFill>
                  <a:srgbClr val="CCDDEE"/>
                </a:solidFill>
              </a:rPr>
              <a:t>•  Payments without matching GST bills; amounts &amp; suppliers listed.</a:t>
            </a:r>
          </a:p>
          <a:p>
            <a:pPr>
              <a:spcBef>
                <a:spcPts val="1000"/>
              </a:spcBef>
              <a:spcAft>
                <a:spcPts val="400"/>
              </a:spcAft>
            </a:pPr>
            <a:r>
              <a:rPr sz="2100" dirty="0">
                <a:solidFill>
                  <a:srgbClr val="CCDDEE"/>
                </a:solidFill>
              </a:rPr>
              <a:t>•  Mini fridge size mismatch: client asked 75-100L, supplier 45L.</a:t>
            </a:r>
          </a:p>
          <a:p>
            <a:pPr>
              <a:spcBef>
                <a:spcPts val="1000"/>
              </a:spcBef>
              <a:spcAft>
                <a:spcPts val="400"/>
              </a:spcAft>
            </a:pPr>
            <a:r>
              <a:rPr sz="2100" dirty="0">
                <a:solidFill>
                  <a:srgbClr val="CCDDEE"/>
                </a:solidFill>
              </a:rPr>
              <a:t>•  Parallel stabilizer quotes across 2 threads; double order risk flagged.</a:t>
            </a:r>
          </a:p>
          <a:p>
            <a:pPr>
              <a:spcBef>
                <a:spcPts val="1000"/>
              </a:spcBef>
              <a:spcAft>
                <a:spcPts val="400"/>
              </a:spcAft>
            </a:pPr>
            <a:r>
              <a:rPr sz="2100" dirty="0">
                <a:solidFill>
                  <a:srgbClr val="CCDDEE"/>
                </a:solidFill>
              </a:rPr>
              <a:t>•  DY GOC OTG quote gap 20 days, no response; escalation recommended.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12</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Questions So Far?</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We'd love to hear your first reactions.</a:t>
            </a:r>
          </a:p>
          <a:p>
            <a:pPr>
              <a:spcBef>
                <a:spcPts val="1000"/>
              </a:spcBef>
              <a:spcAft>
                <a:spcPts val="400"/>
              </a:spcAft>
            </a:pPr>
            <a:r>
              <a:rPr sz="2100">
                <a:solidFill>
                  <a:srgbClr val="CCDDEE"/>
                </a:solidFill>
              </a:rPr>
              <a:t>•  Does this match how you actually work?</a:t>
            </a:r>
          </a:p>
          <a:p>
            <a:pPr>
              <a:spcBef>
                <a:spcPts val="1000"/>
              </a:spcBef>
              <a:spcAft>
                <a:spcPts val="400"/>
              </a:spcAft>
            </a:pPr>
            <a:r>
              <a:rPr sz="2100">
                <a:solidFill>
                  <a:srgbClr val="CCDDEE"/>
                </a:solidFill>
              </a:rPr>
              <a:t>•  Is there something important it wouldn't see?</a:t>
            </a:r>
          </a:p>
          <a:p>
            <a:pPr>
              <a:spcBef>
                <a:spcPts val="1000"/>
              </a:spcBef>
              <a:spcAft>
                <a:spcPts val="400"/>
              </a:spcAft>
            </a:pPr>
            <a:r>
              <a:rPr sz="2100">
                <a:solidFill>
                  <a:srgbClr val="CCDDEE"/>
                </a:solidFill>
              </a:rPr>
              <a:t>•  Does anything about this concern you?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14</a:t>
            </a:r>
          </a:p>
        </p:txBody>
      </p:sp>
      <p:sp>
        <p:nvSpPr>
          <p:cNvPr id="3" name="TextBox 2"/>
          <p:cNvSpPr txBox="1"/>
          <p:nvPr/>
        </p:nvSpPr>
        <p:spPr>
          <a:xfrm>
            <a:off x="914400" y="228600"/>
            <a:ext cx="4955331" cy="553998"/>
          </a:xfrm>
          <a:prstGeom prst="rect">
            <a:avLst/>
          </a:prstGeom>
          <a:noFill/>
        </p:spPr>
        <p:txBody>
          <a:bodyPr wrap="none">
            <a:spAutoFit/>
          </a:bodyPr>
          <a:lstStyle/>
          <a:p>
            <a:pPr>
              <a:defRPr sz="3000" b="1">
                <a:solidFill>
                  <a:srgbClr val="FFFFFF"/>
                </a:solidFill>
              </a:defRPr>
            </a:pPr>
            <a:r>
              <a:rPr lang="en-US" dirty="0"/>
              <a:t>So, Who</a:t>
            </a:r>
            <a:r>
              <a:rPr dirty="0"/>
              <a:t> </a:t>
            </a:r>
            <a:r>
              <a:rPr lang="en-US" dirty="0"/>
              <a:t>Is</a:t>
            </a:r>
            <a:r>
              <a:rPr dirty="0"/>
              <a:t> </a:t>
            </a:r>
            <a:r>
              <a:rPr lang="en-US" dirty="0"/>
              <a:t>Flying This Rocket?</a:t>
            </a:r>
            <a:endParaRPr dirty="0"/>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dirty="0">
                <a:solidFill>
                  <a:srgbClr val="CCDDEE"/>
                </a:solidFill>
              </a:rPr>
              <a:t>•  You control Mantri — not the other way around.</a:t>
            </a:r>
          </a:p>
          <a:p>
            <a:pPr>
              <a:spcBef>
                <a:spcPts val="1000"/>
              </a:spcBef>
              <a:spcAft>
                <a:spcPts val="400"/>
              </a:spcAft>
            </a:pPr>
            <a:r>
              <a:rPr sz="2100" dirty="0">
                <a:solidFill>
                  <a:srgbClr val="CCDDEE"/>
                </a:solidFill>
              </a:rPr>
              <a:t>•  Mantri suggests follow-up: you say, "Already handled it."</a:t>
            </a:r>
          </a:p>
          <a:p>
            <a:pPr>
              <a:spcBef>
                <a:spcPts val="1000"/>
              </a:spcBef>
              <a:spcAft>
                <a:spcPts val="400"/>
              </a:spcAft>
            </a:pPr>
            <a:r>
              <a:rPr sz="2100" dirty="0">
                <a:solidFill>
                  <a:srgbClr val="CCDDEE"/>
                </a:solidFill>
              </a:rPr>
              <a:t>•  Mantri says pending: you update, "This client has 2 months."</a:t>
            </a:r>
          </a:p>
          <a:p>
            <a:pPr>
              <a:spcBef>
                <a:spcPts val="1000"/>
              </a:spcBef>
              <a:spcAft>
                <a:spcPts val="400"/>
              </a:spcAft>
            </a:pPr>
            <a:r>
              <a:rPr sz="2100" dirty="0">
                <a:solidFill>
                  <a:srgbClr val="CCDDEE"/>
                </a:solidFill>
              </a:rPr>
              <a:t>•  Your knowledge always overrides Mantri.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13</a:t>
            </a:r>
          </a:p>
        </p:txBody>
      </p:sp>
      <p:sp>
        <p:nvSpPr>
          <p:cNvPr id="3" name="TextBox 2"/>
          <p:cNvSpPr txBox="1"/>
          <p:nvPr/>
        </p:nvSpPr>
        <p:spPr>
          <a:xfrm>
            <a:off x="914400" y="228600"/>
            <a:ext cx="4241739" cy="553998"/>
          </a:xfrm>
          <a:prstGeom prst="rect">
            <a:avLst/>
          </a:prstGeom>
          <a:noFill/>
        </p:spPr>
        <p:txBody>
          <a:bodyPr wrap="none">
            <a:spAutoFit/>
          </a:bodyPr>
          <a:lstStyle/>
          <a:p>
            <a:pPr>
              <a:defRPr sz="3000" b="1">
                <a:solidFill>
                  <a:srgbClr val="FFFFFF"/>
                </a:solidFill>
              </a:defRPr>
            </a:pPr>
            <a:r>
              <a:rPr dirty="0"/>
              <a:t>TRUST: Mantri Will Never</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2929007"/>
          </a:xfrm>
          <a:prstGeom prst="rect">
            <a:avLst/>
          </a:prstGeom>
          <a:noFill/>
        </p:spPr>
        <p:txBody>
          <a:bodyPr wrap="square">
            <a:spAutoFit/>
          </a:bodyPr>
          <a:lstStyle/>
          <a:p>
            <a:pPr>
              <a:spcBef>
                <a:spcPts val="1000"/>
              </a:spcBef>
              <a:spcAft>
                <a:spcPts val="400"/>
              </a:spcAft>
            </a:pPr>
            <a:r>
              <a:rPr sz="2100" dirty="0">
                <a:solidFill>
                  <a:srgbClr val="CCDDEE"/>
                </a:solidFill>
              </a:rPr>
              <a:t>•  </a:t>
            </a:r>
            <a:r>
              <a:rPr lang="en-US" sz="2100" dirty="0">
                <a:solidFill>
                  <a:srgbClr val="CCDDEE"/>
                </a:solidFill>
              </a:rPr>
              <a:t>Never s</a:t>
            </a:r>
            <a:r>
              <a:rPr sz="2100" dirty="0">
                <a:solidFill>
                  <a:srgbClr val="CCDDEE"/>
                </a:solidFill>
              </a:rPr>
              <a:t>end messages on your behalf</a:t>
            </a:r>
          </a:p>
          <a:p>
            <a:pPr>
              <a:spcBef>
                <a:spcPts val="1000"/>
              </a:spcBef>
              <a:spcAft>
                <a:spcPts val="400"/>
              </a:spcAft>
            </a:pPr>
            <a:r>
              <a:rPr sz="2100" dirty="0">
                <a:solidFill>
                  <a:srgbClr val="CCDDEE"/>
                </a:solidFill>
              </a:rPr>
              <a:t>•  </a:t>
            </a:r>
            <a:r>
              <a:rPr lang="en-US" sz="2100" dirty="0">
                <a:solidFill>
                  <a:srgbClr val="CCDDEE"/>
                </a:solidFill>
              </a:rPr>
              <a:t>Never </a:t>
            </a:r>
            <a:r>
              <a:rPr sz="2100" dirty="0">
                <a:solidFill>
                  <a:srgbClr val="CCDDEE"/>
                </a:solidFill>
              </a:rPr>
              <a:t>Read personal or unlisted chats</a:t>
            </a:r>
          </a:p>
          <a:p>
            <a:pPr>
              <a:spcBef>
                <a:spcPts val="1000"/>
              </a:spcBef>
              <a:spcAft>
                <a:spcPts val="400"/>
              </a:spcAft>
            </a:pPr>
            <a:r>
              <a:rPr sz="2100" dirty="0">
                <a:solidFill>
                  <a:srgbClr val="CCDDEE"/>
                </a:solidFill>
              </a:rPr>
              <a:t>•  </a:t>
            </a:r>
            <a:r>
              <a:rPr lang="en-US" sz="2100" dirty="0">
                <a:solidFill>
                  <a:srgbClr val="CCDDEE"/>
                </a:solidFill>
              </a:rPr>
              <a:t>Never </a:t>
            </a:r>
            <a:r>
              <a:rPr sz="2100" dirty="0">
                <a:solidFill>
                  <a:srgbClr val="CCDDEE"/>
                </a:solidFill>
              </a:rPr>
              <a:t>Share your conversations with anyone else</a:t>
            </a:r>
          </a:p>
          <a:p>
            <a:pPr>
              <a:spcBef>
                <a:spcPts val="1000"/>
              </a:spcBef>
              <a:spcAft>
                <a:spcPts val="400"/>
              </a:spcAft>
            </a:pPr>
            <a:r>
              <a:rPr sz="2100" dirty="0">
                <a:solidFill>
                  <a:srgbClr val="CCDDEE"/>
                </a:solidFill>
              </a:rPr>
              <a:t>•  </a:t>
            </a:r>
            <a:r>
              <a:rPr lang="en-US" sz="2100" dirty="0">
                <a:solidFill>
                  <a:srgbClr val="CCDDEE"/>
                </a:solidFill>
              </a:rPr>
              <a:t>Never </a:t>
            </a:r>
            <a:r>
              <a:rPr sz="2100" dirty="0">
                <a:solidFill>
                  <a:srgbClr val="CCDDEE"/>
                </a:solidFill>
              </a:rPr>
              <a:t>Make decisions without human approval</a:t>
            </a:r>
          </a:p>
          <a:p>
            <a:pPr>
              <a:spcBef>
                <a:spcPts val="1000"/>
              </a:spcBef>
              <a:spcAft>
                <a:spcPts val="400"/>
              </a:spcAft>
            </a:pPr>
            <a:r>
              <a:rPr sz="2100" dirty="0">
                <a:solidFill>
                  <a:srgbClr val="CCDDEE"/>
                </a:solidFill>
              </a:rPr>
              <a:t>•  </a:t>
            </a:r>
            <a:r>
              <a:rPr lang="en-US" sz="2100" dirty="0">
                <a:solidFill>
                  <a:srgbClr val="CCDDEE"/>
                </a:solidFill>
              </a:rPr>
              <a:t>Never </a:t>
            </a:r>
            <a:r>
              <a:rPr sz="2100" dirty="0">
                <a:solidFill>
                  <a:srgbClr val="CCDDEE"/>
                </a:solidFill>
              </a:rPr>
              <a:t>Tell Ashish who made a mistake</a:t>
            </a:r>
          </a:p>
          <a:p>
            <a:pPr>
              <a:spcBef>
                <a:spcPts val="1000"/>
              </a:spcBef>
              <a:spcAft>
                <a:spcPts val="400"/>
              </a:spcAft>
            </a:pPr>
            <a:r>
              <a:rPr sz="2100" dirty="0">
                <a:solidFill>
                  <a:srgbClr val="CCDDEE"/>
                </a:solidFill>
              </a:rPr>
              <a:t>•  </a:t>
            </a:r>
            <a:r>
              <a:rPr lang="en-US" sz="2100" dirty="0">
                <a:solidFill>
                  <a:srgbClr val="CCDDEE"/>
                </a:solidFill>
              </a:rPr>
              <a:t>Never </a:t>
            </a:r>
            <a:r>
              <a:rPr sz="2100" dirty="0">
                <a:solidFill>
                  <a:srgbClr val="CCDDEE"/>
                </a:solidFill>
              </a:rPr>
              <a:t>Score or rank staff performance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15</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Now We'd Like To Hear</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dirty="0">
                <a:solidFill>
                  <a:srgbClr val="CCDDEE"/>
                </a:solidFill>
              </a:rPr>
              <a:t>•  Now we'd like to hear from you.</a:t>
            </a:r>
          </a:p>
          <a:p>
            <a:pPr>
              <a:spcBef>
                <a:spcPts val="1000"/>
              </a:spcBef>
              <a:spcAft>
                <a:spcPts val="400"/>
              </a:spcAft>
            </a:pPr>
            <a:r>
              <a:rPr sz="2100" dirty="0">
                <a:solidFill>
                  <a:srgbClr val="CCDDEE"/>
                </a:solidFill>
              </a:rPr>
              <a:t>•  10 minutes — your honest answers only.</a:t>
            </a:r>
          </a:p>
          <a:p>
            <a:pPr>
              <a:spcBef>
                <a:spcPts val="1000"/>
              </a:spcBef>
              <a:spcAft>
                <a:spcPts val="400"/>
              </a:spcAft>
            </a:pPr>
            <a:r>
              <a:rPr sz="2100" dirty="0">
                <a:solidFill>
                  <a:srgbClr val="CCDDEE"/>
                </a:solidFill>
              </a:rPr>
              <a:t>•  No right or wrong answers.</a:t>
            </a:r>
          </a:p>
          <a:p>
            <a:pPr>
              <a:spcBef>
                <a:spcPts val="1000"/>
              </a:spcBef>
              <a:spcAft>
                <a:spcPts val="400"/>
              </a:spcAft>
            </a:pPr>
            <a:r>
              <a:rPr sz="2100" dirty="0">
                <a:solidFill>
                  <a:srgbClr val="CCDDEE"/>
                </a:solidFill>
              </a:rPr>
              <a:t>•  Your honesty helps us build better.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16</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Interview Question 1</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918200"/>
          </a:xfrm>
          <a:prstGeom prst="rect">
            <a:avLst/>
          </a:prstGeom>
          <a:noFill/>
        </p:spPr>
        <p:txBody>
          <a:bodyPr wrap="square">
            <a:spAutoFit/>
          </a:bodyPr>
          <a:lstStyle/>
          <a:p>
            <a:pPr>
              <a:spcBef>
                <a:spcPts val="1000"/>
              </a:spcBef>
              <a:spcAft>
                <a:spcPts val="400"/>
              </a:spcAft>
            </a:pPr>
            <a:r>
              <a:rPr sz="2100" dirty="0">
                <a:solidFill>
                  <a:srgbClr val="CCDDEE"/>
                </a:solidFill>
              </a:rPr>
              <a:t>•  When Ashish gives you a task on WhatsApp —</a:t>
            </a:r>
            <a:endParaRPr lang="en-US" sz="2100" dirty="0">
              <a:solidFill>
                <a:srgbClr val="CCDDEE"/>
              </a:solidFill>
            </a:endParaRPr>
          </a:p>
          <a:p>
            <a:pPr>
              <a:spcBef>
                <a:spcPts val="1000"/>
              </a:spcBef>
              <a:spcAft>
                <a:spcPts val="400"/>
              </a:spcAft>
            </a:pPr>
            <a:r>
              <a:rPr lang="en-IN" sz="2100" dirty="0">
                <a:solidFill>
                  <a:srgbClr val="CCDDEE"/>
                </a:solidFill>
              </a:rPr>
              <a:t>    </a:t>
            </a:r>
            <a:r>
              <a:rPr sz="2100" dirty="0">
                <a:solidFill>
                  <a:srgbClr val="CCDDEE"/>
                </a:solidFill>
              </a:rPr>
              <a:t>how do you currently keep track of it until it's done?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17</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Interview Question 2</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Tell me about a time a task slipped.</a:t>
            </a:r>
          </a:p>
          <a:p>
            <a:pPr>
              <a:spcBef>
                <a:spcPts val="1000"/>
              </a:spcBef>
              <a:spcAft>
                <a:spcPts val="400"/>
              </a:spcAft>
            </a:pPr>
            <a:r>
              <a:rPr sz="2100">
                <a:solidFill>
                  <a:srgbClr val="CCDDEE"/>
                </a:solidFill>
              </a:rPr>
              <a:t>•  Something got missed or delayed.</a:t>
            </a:r>
          </a:p>
          <a:p>
            <a:pPr>
              <a:spcBef>
                <a:spcPts val="1000"/>
              </a:spcBef>
              <a:spcAft>
                <a:spcPts val="400"/>
              </a:spcAft>
            </a:pPr>
            <a:r>
              <a:rPr sz="2100">
                <a:solidFill>
                  <a:srgbClr val="CCDDEE"/>
                </a:solidFill>
              </a:rPr>
              <a:t>•  What happened? What caused it?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18</a:t>
            </a:r>
          </a:p>
        </p:txBody>
      </p:sp>
      <p:sp>
        <p:nvSpPr>
          <p:cNvPr id="3" name="TextBox 2"/>
          <p:cNvSpPr txBox="1"/>
          <p:nvPr/>
        </p:nvSpPr>
        <p:spPr>
          <a:xfrm>
            <a:off x="914400" y="228600"/>
            <a:ext cx="3533531" cy="553998"/>
          </a:xfrm>
          <a:prstGeom prst="rect">
            <a:avLst/>
          </a:prstGeom>
          <a:noFill/>
        </p:spPr>
        <p:txBody>
          <a:bodyPr wrap="none">
            <a:spAutoFit/>
          </a:bodyPr>
          <a:lstStyle/>
          <a:p>
            <a:pPr>
              <a:defRPr sz="3000" b="1">
                <a:solidFill>
                  <a:srgbClr val="FFFFFF"/>
                </a:solidFill>
              </a:defRPr>
            </a:pPr>
            <a:r>
              <a:rPr lang="en-IN" dirty="0"/>
              <a:t>Interview Question </a:t>
            </a:r>
            <a:r>
              <a:rPr dirty="0"/>
              <a:t>3</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918200"/>
          </a:xfrm>
          <a:prstGeom prst="rect">
            <a:avLst/>
          </a:prstGeom>
          <a:noFill/>
        </p:spPr>
        <p:txBody>
          <a:bodyPr wrap="square">
            <a:spAutoFit/>
          </a:bodyPr>
          <a:lstStyle/>
          <a:p>
            <a:pPr>
              <a:spcBef>
                <a:spcPts val="1000"/>
              </a:spcBef>
              <a:spcAft>
                <a:spcPts val="400"/>
              </a:spcAft>
            </a:pPr>
            <a:r>
              <a:rPr sz="2100" dirty="0">
                <a:solidFill>
                  <a:srgbClr val="CCDDEE"/>
                </a:solidFill>
              </a:rPr>
              <a:t>•  If Mantri sent you a reminder about a task —</a:t>
            </a:r>
            <a:endParaRPr lang="en-US" sz="2100" dirty="0">
              <a:solidFill>
                <a:srgbClr val="CCDDEE"/>
              </a:solidFill>
            </a:endParaRPr>
          </a:p>
          <a:p>
            <a:pPr>
              <a:spcBef>
                <a:spcPts val="1000"/>
              </a:spcBef>
              <a:spcAft>
                <a:spcPts val="400"/>
              </a:spcAft>
            </a:pPr>
            <a:r>
              <a:rPr lang="en-US" sz="2100" dirty="0">
                <a:solidFill>
                  <a:srgbClr val="CCDDEE"/>
                </a:solidFill>
              </a:rPr>
              <a:t>    </a:t>
            </a:r>
            <a:r>
              <a:rPr sz="2100" dirty="0">
                <a:solidFill>
                  <a:srgbClr val="CCDDEE"/>
                </a:solidFill>
              </a:rPr>
              <a:t>what would make you trust it enough to act on it? What would make you ignore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19</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t>Interview Question 4</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1420902"/>
          </a:xfrm>
          <a:prstGeom prst="rect">
            <a:avLst/>
          </a:prstGeom>
          <a:noFill/>
        </p:spPr>
        <p:txBody>
          <a:bodyPr wrap="square">
            <a:spAutoFit/>
          </a:bodyPr>
          <a:lstStyle/>
          <a:p>
            <a:pPr>
              <a:spcBef>
                <a:spcPts val="1000"/>
              </a:spcBef>
              <a:spcAft>
                <a:spcPts val="400"/>
              </a:spcAft>
            </a:pPr>
            <a:r>
              <a:rPr sz="2100" dirty="0">
                <a:solidFill>
                  <a:srgbClr val="CCDDEE"/>
                </a:solidFill>
              </a:rPr>
              <a:t>•  Are there situations where you handle something outside WhatsApp</a:t>
            </a:r>
            <a:r>
              <a:rPr lang="en-IN" sz="2100" dirty="0">
                <a:solidFill>
                  <a:srgbClr val="CCDDEE"/>
                </a:solidFill>
              </a:rPr>
              <a:t> —</a:t>
            </a:r>
          </a:p>
          <a:p>
            <a:pPr>
              <a:spcBef>
                <a:spcPts val="1000"/>
              </a:spcBef>
              <a:spcAft>
                <a:spcPts val="400"/>
              </a:spcAft>
            </a:pPr>
            <a:r>
              <a:rPr lang="en-IN" sz="2100" dirty="0">
                <a:solidFill>
                  <a:srgbClr val="CCDDEE"/>
                </a:solidFill>
              </a:rPr>
              <a:t>    and the group never gets updated?</a:t>
            </a:r>
          </a:p>
          <a:p>
            <a:pPr>
              <a:spcBef>
                <a:spcPts val="1000"/>
              </a:spcBef>
              <a:spcAft>
                <a:spcPts val="400"/>
              </a:spcAft>
            </a:pPr>
            <a:r>
              <a:rPr sz="2100" dirty="0">
                <a:solidFill>
                  <a:srgbClr val="CCDDEE"/>
                </a:solidFill>
              </a:rPr>
              <a:t>•  How often does that happen?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20</a:t>
            </a:r>
          </a:p>
        </p:txBody>
      </p:sp>
      <p:sp>
        <p:nvSpPr>
          <p:cNvPr id="3" name="TextBox 2"/>
          <p:cNvSpPr txBox="1"/>
          <p:nvPr/>
        </p:nvSpPr>
        <p:spPr>
          <a:xfrm>
            <a:off x="914400" y="228600"/>
            <a:ext cx="10515600" cy="822960"/>
          </a:xfrm>
          <a:prstGeom prst="rect">
            <a:avLst/>
          </a:prstGeom>
          <a:noFill/>
        </p:spPr>
        <p:txBody>
          <a:bodyPr wrap="none">
            <a:spAutoFit/>
          </a:bodyPr>
          <a:lstStyle/>
          <a:p>
            <a:pPr>
              <a:defRPr sz="3000" b="1">
                <a:solidFill>
                  <a:srgbClr val="FFFFFF"/>
                </a:solidFill>
              </a:defRPr>
            </a:pPr>
            <a:r>
              <a:rPr dirty="0"/>
              <a:t>Interview Question 5</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918200"/>
          </a:xfrm>
          <a:prstGeom prst="rect">
            <a:avLst/>
          </a:prstGeom>
          <a:noFill/>
        </p:spPr>
        <p:txBody>
          <a:bodyPr wrap="square">
            <a:spAutoFit/>
          </a:bodyPr>
          <a:lstStyle/>
          <a:p>
            <a:pPr>
              <a:spcBef>
                <a:spcPts val="1000"/>
              </a:spcBef>
              <a:spcAft>
                <a:spcPts val="400"/>
              </a:spcAft>
            </a:pPr>
            <a:r>
              <a:rPr sz="2100" dirty="0">
                <a:solidFill>
                  <a:srgbClr val="CCDDEE"/>
                </a:solidFill>
              </a:rPr>
              <a:t>•  What one thing would Mantri help you with most?</a:t>
            </a:r>
          </a:p>
          <a:p>
            <a:pPr>
              <a:spcBef>
                <a:spcPts val="1000"/>
              </a:spcBef>
              <a:spcAft>
                <a:spcPts val="400"/>
              </a:spcAft>
            </a:pPr>
            <a:r>
              <a:rPr sz="2100" dirty="0">
                <a:solidFill>
                  <a:srgbClr val="CCDDEE"/>
                </a:solidFill>
              </a:rPr>
              <a:t>•  Any worries about Mantri's help?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21</a:t>
            </a:r>
          </a:p>
        </p:txBody>
      </p:sp>
      <p:sp>
        <p:nvSpPr>
          <p:cNvPr id="3" name="TextBox 2"/>
          <p:cNvSpPr txBox="1"/>
          <p:nvPr/>
        </p:nvSpPr>
        <p:spPr>
          <a:xfrm>
            <a:off x="914400" y="228600"/>
            <a:ext cx="1800493" cy="553998"/>
          </a:xfrm>
          <a:prstGeom prst="rect">
            <a:avLst/>
          </a:prstGeom>
          <a:noFill/>
        </p:spPr>
        <p:txBody>
          <a:bodyPr wrap="none">
            <a:spAutoFit/>
          </a:bodyPr>
          <a:lstStyle/>
          <a:p>
            <a:pPr>
              <a:defRPr sz="3000" b="1">
                <a:solidFill>
                  <a:srgbClr val="FFFFFF"/>
                </a:solidFill>
              </a:defRPr>
            </a:pPr>
            <a:r>
              <a:rPr dirty="0"/>
              <a:t>F</a:t>
            </a:r>
            <a:r>
              <a:rPr lang="en-US" dirty="0"/>
              <a:t>inal</a:t>
            </a:r>
            <a:r>
              <a:rPr dirty="0"/>
              <a:t> Q&amp;A</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Any final questions for us?</a:t>
            </a:r>
          </a:p>
          <a:p>
            <a:pPr>
              <a:spcBef>
                <a:spcPts val="1000"/>
              </a:spcBef>
              <a:spcAft>
                <a:spcPts val="400"/>
              </a:spcAft>
            </a:pPr>
            <a:r>
              <a:rPr sz="2100">
                <a:solidFill>
                  <a:srgbClr val="CCDDEE"/>
                </a:solidFill>
              </a:rPr>
              <a:t>•  How will we use what you've told us today?</a:t>
            </a:r>
          </a:p>
          <a:p>
            <a:pPr>
              <a:spcBef>
                <a:spcPts val="1000"/>
              </a:spcBef>
              <a:spcAft>
                <a:spcPts val="400"/>
              </a:spcAft>
            </a:pPr>
            <a:r>
              <a:rPr sz="2100">
                <a:solidFill>
                  <a:srgbClr val="CCDDEE"/>
                </a:solidFill>
              </a:rPr>
              <a:t>•  When will this be ready to use?</a:t>
            </a:r>
          </a:p>
          <a:p>
            <a:pPr>
              <a:spcBef>
                <a:spcPts val="1000"/>
              </a:spcBef>
              <a:spcAft>
                <a:spcPts val="400"/>
              </a:spcAft>
            </a:pPr>
            <a:r>
              <a:rPr sz="2100">
                <a:solidFill>
                  <a:srgbClr val="CCDDEE"/>
                </a:solidFill>
              </a:rPr>
              <a:t>•  How do you give us feedback later?</a:t>
            </a:r>
          </a:p>
          <a:p>
            <a:pPr>
              <a:spcBef>
                <a:spcPts val="1000"/>
              </a:spcBef>
              <a:spcAft>
                <a:spcPts val="400"/>
              </a:spcAft>
            </a:pPr>
            <a:r>
              <a:rPr sz="2100">
                <a:solidFill>
                  <a:srgbClr val="CCDDEE"/>
                </a:solidFill>
              </a:rPr>
              <a:t>•  Anything else on your mind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274320" y="182880"/>
            <a:ext cx="731520" cy="457200"/>
          </a:xfrm>
          <a:prstGeom prst="rect">
            <a:avLst/>
          </a:prstGeom>
          <a:noFill/>
        </p:spPr>
        <p:txBody>
          <a:bodyPr wrap="none">
            <a:spAutoFit/>
          </a:bodyPr>
          <a:lstStyle/>
          <a:p>
            <a:pPr>
              <a:defRPr sz="1300">
                <a:solidFill>
                  <a:srgbClr val="4A90D9"/>
                </a:solidFill>
              </a:defRPr>
            </a:pPr>
            <a:r>
              <a:t>22</a:t>
            </a:r>
          </a:p>
        </p:txBody>
      </p:sp>
      <p:sp>
        <p:nvSpPr>
          <p:cNvPr id="3" name="TextBox 2"/>
          <p:cNvSpPr txBox="1"/>
          <p:nvPr/>
        </p:nvSpPr>
        <p:spPr>
          <a:xfrm>
            <a:off x="914400" y="228600"/>
            <a:ext cx="1925527" cy="553998"/>
          </a:xfrm>
          <a:prstGeom prst="rect">
            <a:avLst/>
          </a:prstGeom>
          <a:noFill/>
        </p:spPr>
        <p:txBody>
          <a:bodyPr wrap="none">
            <a:spAutoFit/>
          </a:bodyPr>
          <a:lstStyle/>
          <a:p>
            <a:pPr>
              <a:defRPr sz="3000" b="1">
                <a:solidFill>
                  <a:srgbClr val="FFFFFF"/>
                </a:solidFill>
              </a:defRPr>
            </a:pPr>
            <a:r>
              <a:rPr lang="en-US" dirty="0"/>
              <a:t>Conclusion</a:t>
            </a:r>
          </a:p>
        </p:txBody>
      </p:sp>
      <p:sp>
        <p:nvSpPr>
          <p:cNvPr id="4" name="Rectangle 3"/>
          <p:cNvSpPr/>
          <p:nvPr/>
        </p:nvSpPr>
        <p:spPr>
          <a:xfrm>
            <a:off x="914400" y="1097280"/>
            <a:ext cx="10332720" cy="35000"/>
          </a:xfrm>
          <a:prstGeom prst="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325880"/>
            <a:ext cx="10332720" cy="5212080"/>
          </a:xfrm>
          <a:prstGeom prst="rect">
            <a:avLst/>
          </a:prstGeom>
          <a:noFill/>
        </p:spPr>
        <p:txBody>
          <a:bodyPr wrap="square">
            <a:spAutoFit/>
          </a:bodyPr>
          <a:lstStyle/>
          <a:p>
            <a:pPr>
              <a:spcBef>
                <a:spcPts val="1000"/>
              </a:spcBef>
              <a:spcAft>
                <a:spcPts val="400"/>
              </a:spcAft>
            </a:pPr>
            <a:r>
              <a:rPr sz="2100">
                <a:solidFill>
                  <a:srgbClr val="CCDDEE"/>
                </a:solidFill>
              </a:rPr>
              <a:t>•  Key theme from Q&amp;A</a:t>
            </a:r>
          </a:p>
          <a:p>
            <a:pPr>
              <a:spcBef>
                <a:spcPts val="1000"/>
              </a:spcBef>
              <a:spcAft>
                <a:spcPts val="400"/>
              </a:spcAft>
            </a:pPr>
            <a:r>
              <a:rPr sz="2100">
                <a:solidFill>
                  <a:srgbClr val="CCDDEE"/>
                </a:solidFill>
              </a:rPr>
              <a:t>•  Key concern raised</a:t>
            </a:r>
          </a:p>
          <a:p>
            <a:pPr>
              <a:spcBef>
                <a:spcPts val="1000"/>
              </a:spcBef>
              <a:spcAft>
                <a:spcPts val="400"/>
              </a:spcAft>
            </a:pPr>
            <a:r>
              <a:rPr sz="2100">
                <a:solidFill>
                  <a:srgbClr val="CCDDEE"/>
                </a:solidFill>
              </a:rPr>
              <a:t>•  Key thing they want</a:t>
            </a:r>
          </a:p>
          <a:p>
            <a:pPr>
              <a:spcBef>
                <a:spcPts val="1000"/>
              </a:spcBef>
              <a:spcAft>
                <a:spcPts val="400"/>
              </a:spcAft>
            </a:pPr>
            <a:r>
              <a:rPr sz="2100">
                <a:solidFill>
                  <a:srgbClr val="CCDDEE"/>
                </a:solidFill>
              </a:rPr>
              <a:t>•  Your feedback shapes the next version</a:t>
            </a:r>
          </a:p>
          <a:p>
            <a:pPr>
              <a:spcBef>
                <a:spcPts val="1000"/>
              </a:spcBef>
              <a:spcAft>
                <a:spcPts val="400"/>
              </a:spcAft>
            </a:pPr>
            <a:r>
              <a:rPr sz="2100">
                <a:solidFill>
                  <a:srgbClr val="CCDDEE"/>
                </a:solidFill>
              </a:rPr>
              <a:t>•  We'll share progress with Ashish regularly</a:t>
            </a:r>
          </a:p>
          <a:p>
            <a:pPr>
              <a:spcBef>
                <a:spcPts val="1000"/>
              </a:spcBef>
              <a:spcAft>
                <a:spcPts val="400"/>
              </a:spcAft>
            </a:pPr>
            <a:r>
              <a:rPr sz="2100">
                <a:solidFill>
                  <a:srgbClr val="CCDDEE"/>
                </a:solidFill>
              </a:rPr>
              <a:t>•  You'll be the first to use the real system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3596</Words>
  <Application>Microsoft Macintosh PowerPoint</Application>
  <PresentationFormat>Custom</PresentationFormat>
  <Paragraphs>354</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Kunal Chowdhury</cp:lastModifiedBy>
  <cp:revision>6</cp:revision>
  <dcterms:created xsi:type="dcterms:W3CDTF">2013-01-27T09:14:16Z</dcterms:created>
  <dcterms:modified xsi:type="dcterms:W3CDTF">2026-03-27T05:17:21Z</dcterms:modified>
  <cp:category/>
</cp:coreProperties>
</file>